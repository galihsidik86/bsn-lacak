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576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8.png"/><Relationship Id="rId10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23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32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82230" y="1828800"/>
            <a:ext cx="0" cy="146304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582230" y="3291840"/>
            <a:ext cx="0" cy="7315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4023360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048170" y="3291840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048170" y="1828800"/>
            <a:ext cx="126703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315200" y="1097280"/>
            <a:ext cx="1267030" cy="73152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305067" y="1988820"/>
            <a:ext cx="0" cy="11430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305067" y="3131820"/>
            <a:ext cx="0" cy="5715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0" y="3703320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325333" y="3131820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325333" y="1988820"/>
            <a:ext cx="989867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989867" cy="57150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27904" y="2148840"/>
            <a:ext cx="0" cy="82296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027904" y="2971800"/>
            <a:ext cx="0" cy="41148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0" y="3383280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602496" y="2971800"/>
            <a:ext cx="0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602496" y="2148840"/>
            <a:ext cx="712704" cy="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0" y="1737360"/>
            <a:ext cx="712704" cy="411480"/>
          </a:xfrm>
          <a:prstGeom prst="line">
            <a:avLst/>
          </a:prstGeom>
          <a:noFill/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251192" y="2496312"/>
            <a:ext cx="128016" cy="128016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3474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ArtiVisi Intermedia  ·  Dokumen Rahasia &amp; Terbatas 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59436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Transformasi Digital
Pengawasan Kredit &amp;
</a:t>
            </a:r>
            <a:r>
              <a:rPr lang="en-US" sz="38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Collection Syariah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502920" y="2971800"/>
            <a:ext cx="73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30906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Terintegrasi 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" y="3337560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BSN LACAK</a:t>
            </a: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untuk Mitigasi Risiko NPF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Syariah Nasional — Smart, Akuntabel &amp; Sesuai Nilai Syariah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2920" y="47000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ArtiVisi Intermedia  |  www.artivisi.com  |  Bogor, Jawa Barat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47000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Dok. No. AVI/PROP/BSN/2026/002  ·  30 Juni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Tantangan Kritis Pengelolaan 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397764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115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 UTAMA INDUSTRI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31673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Non-Performing Financing (NPF)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E6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1764792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5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&gt;5%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993392" y="17922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batas kritis OJK yang mempengaruhi kesehatan bank, ekspansi pembiayaan &amp; reputasi institusi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Tingginya NPF menekan profitabilitas, membatasi kapasitas pembiayaan produktif baru, dan menimbulkan risiko regulasi dari OJK. Digitalisasi proses penagihan bukan lagi pilihan — melainkan keharusan strategis.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80560" y="1024128"/>
            <a:ext cx="429768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63440" y="1115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PENYEBAB INEFISIENSI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131673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Kelemahan Operasional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1837944"/>
            <a:ext cx="292608" cy="292608"/>
          </a:xfrm>
          <a:prstGeom prst="ellipse">
            <a:avLst/>
          </a:prstGeom>
          <a:solidFill>
            <a:srgbClr val="FBF5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47088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0" y="1783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Visibilitas Rendah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0" y="19842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pelacakan posisi petugas lapangan secara real-time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450592"/>
            <a:ext cx="292608" cy="292608"/>
          </a:xfrm>
          <a:prstGeom prst="ellipse">
            <a:avLst/>
          </a:prstGeom>
          <a:solidFill>
            <a:srgbClr val="FBF5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459736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029200" y="23957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 Hazard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029200" y="2596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laporan kunjungan fiktif tanpa validasi digital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4663440" y="3063240"/>
            <a:ext cx="292608" cy="292608"/>
          </a:xfrm>
          <a:prstGeom prst="ellipse">
            <a:avLst/>
          </a:prstGeom>
          <a:solidFill>
            <a:srgbClr val="FBF5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3072384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029200" y="3008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Kompilasi Manual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5029200" y="32095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Rekapitulasi data lambat via Excel — keputusan terlambat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663440" y="3675888"/>
            <a:ext cx="292608" cy="292608"/>
          </a:xfrm>
          <a:prstGeom prst="ellipse">
            <a:avLst/>
          </a:prstGeom>
          <a:solidFill>
            <a:srgbClr val="FBF5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3685032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029200" y="362102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Tidak Merata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0" y="382219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nasabah manual menghasilkan beban kerja timpang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663440" y="4288536"/>
            <a:ext cx="292608" cy="292608"/>
          </a:xfrm>
          <a:prstGeom prst="ellipse">
            <a:avLst/>
          </a:prstGeom>
          <a:solidFill>
            <a:srgbClr val="FBF5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97680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029200" y="42336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0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 Tidak Efektif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029200" y="4434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 fisik &amp; telepon manual — tingkat respons rendah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BSN LACAK: Ekosistem Penagihan Terpadu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KAMI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005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digital end-to-end yang menghubungkan manajemen bank, petugas lapangan, dan nasabah dalam ekosistem tertutup — berbasis Progressive Web App (PWA), tanpa biaya app store, update seketika, deployment on-premise di DC BSN.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788920" cy="3179881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" y="1508760"/>
            <a:ext cx="2788920" cy="128016"/>
          </a:xfrm>
          <a:prstGeom prst="roundRect">
            <a:avLst>
              <a:gd name="adj" fmla="val 57143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76072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76072" y="1865376"/>
            <a:ext cx="420624" cy="420624"/>
          </a:xfrm>
          <a:prstGeom prst="ellipse">
            <a:avLst/>
          </a:prstGeom>
          <a:solidFill>
            <a:srgbClr val="E6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929384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6072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Admin Dashboard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76072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Pusat kendali &amp; analitik real-time bagi Supervisor dan Manajemen Senior di back-office.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Live GPS tracking petugas via SSE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Smart Allocation Engine otomatis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 Trail immutable 365 hari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Peta kolektabilitas Kol 1–5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91840" y="1508760"/>
            <a:ext cx="2788920" cy="3179881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291840" y="1508760"/>
            <a:ext cx="2788920" cy="128016"/>
          </a:xfrm>
          <a:prstGeom prst="roundRect">
            <a:avLst>
              <a:gd name="adj" fmla="val 57143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456432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02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56432" y="1865376"/>
            <a:ext cx="420624" cy="420624"/>
          </a:xfrm>
          <a:prstGeom prst="ellipse">
            <a:avLst/>
          </a:prstGeom>
          <a:solidFill>
            <a:srgbClr val="E6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929384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56432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PWA Petugas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3456432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lapangan: PWA browser + APK Android native (Capacitor) dengan foreground service GPS.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56432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Offline-first via localStorage queue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Background GPS via foreground service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In-app camera + watermark sharp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FCM push notification (Firebase)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72200" y="1508760"/>
            <a:ext cx="2788920" cy="3179881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172200" y="1508760"/>
            <a:ext cx="2788920" cy="128016"/>
          </a:xfrm>
          <a:prstGeom prst="roundRect">
            <a:avLst>
              <a:gd name="adj" fmla="val 57143"/>
            </a:avLst>
          </a:prstGeom>
          <a:solidFill>
            <a:srgbClr val="2E7D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336792" y="16459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03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6336792" y="1865376"/>
            <a:ext cx="420624" cy="420624"/>
          </a:xfrm>
          <a:prstGeom prst="ellipse">
            <a:avLst/>
          </a:prstGeom>
          <a:solidFill>
            <a:srgbClr val="E6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92938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36792" y="234086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Engagement Engine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6336792" y="27432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komunikasi santun via WhatsApp Business Cloud API resmi Meta.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336792" y="32918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Pre-due reminder H-7, H-3, H-1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Eskalasi tiered DPD 1/7/14/30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Tombol CTA interaktif di chat WA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Fallback SMS gateway Twilio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11480" y="4919472"/>
            <a:ext cx="8321040" cy="0"/>
          </a:xfrm>
          <a:prstGeom prst="roundRect">
            <a:avLst>
              <a:gd name="adj" fmla="val Infinity"/>
            </a:avLst>
          </a:prstGeom>
          <a:solidFill>
            <a:srgbClr val="0A37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Pilar Keunggulan Solusi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PROPOSISI NILAI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E2C97E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2011680" cy="388620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783080" y="10515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576072" y="11704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2529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17373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6072" y="19385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Efisiensi Operasional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76072" y="248716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otomatis tiga parameter: zonasi GPS Haversine, tingkat urgensi DPD, dan load balancing petugas — tanpa intervensi Supervisor.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" y="4279392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76072" y="42793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Allocation Engine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9464" y="1024128"/>
            <a:ext cx="2011680" cy="388620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941064" y="10515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6" name="Shape 13"/>
          <p:cNvSpPr/>
          <p:nvPr/>
        </p:nvSpPr>
        <p:spPr>
          <a:xfrm>
            <a:off x="2734056" y="11704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1225296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34056" y="17373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734056" y="19385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Integritas &amp; Akuntabilitas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734056" y="248716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Geo-fencing 50m, server-side watermarked camera, EXIF freshness check, speed-jump detection (&gt;150 km/h) &amp; anti-tampering Capacitor native shell.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2734056" y="4279392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18"/>
          <p:cNvSpPr/>
          <p:nvPr/>
        </p:nvSpPr>
        <p:spPr>
          <a:xfrm>
            <a:off x="2734056" y="42793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Tolerance Fraud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4727448" y="1024128"/>
            <a:ext cx="2011680" cy="388620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6099048" y="10515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25" name="Shape 21"/>
          <p:cNvSpPr/>
          <p:nvPr/>
        </p:nvSpPr>
        <p:spPr>
          <a:xfrm>
            <a:off x="4892040" y="11704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225296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892040" y="17373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3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892040" y="19385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Transparansi Real-Time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892040" y="248716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via SSE memperlihatkan posisi petugas, postur kolektabilitas Kol 1–5, tren pembayaran &amp; leaderboard kolektor kepada manajemen.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892040" y="4279392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Text 26"/>
          <p:cNvSpPr/>
          <p:nvPr/>
        </p:nvSpPr>
        <p:spPr>
          <a:xfrm>
            <a:off x="4892040" y="42793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Decision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885432" y="1024128"/>
            <a:ext cx="2011680" cy="3886200"/>
          </a:xfrm>
          <a:prstGeom prst="roundRect">
            <a:avLst>
              <a:gd name="adj" fmla="val 363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28"/>
          <p:cNvSpPr/>
          <p:nvPr/>
        </p:nvSpPr>
        <p:spPr>
          <a:xfrm>
            <a:off x="8257032" y="10515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>
                    <a:alpha val="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200" dirty="0"/>
          </a:p>
        </p:txBody>
      </p:sp>
      <p:sp>
        <p:nvSpPr>
          <p:cNvPr id="34" name="Shape 29"/>
          <p:cNvSpPr/>
          <p:nvPr/>
        </p:nvSpPr>
        <p:spPr>
          <a:xfrm>
            <a:off x="7050024" y="117043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C9A84C">
              <a:alpha val="18000"/>
            </a:srgbClr>
          </a:solidFill>
          <a:ln w="12700">
            <a:solidFill>
              <a:srgbClr val="C9A84C">
                <a:alpha val="3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4032" y="1225296"/>
            <a:ext cx="329184" cy="32918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050024" y="173736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4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7050024" y="193852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Kepatuhan Syariah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7050024" y="2487168"/>
            <a:ext cx="17190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kehormatan &amp; privasi nasabah sesuai etika muamalah Islam. Template komunikasi santun tersetujui Meta — tanpa metode intimidasi.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7050024" y="4279392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7050024" y="427939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GCG &amp; OJK Compliant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Layered &amp; On-Premise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 &amp; KEAMANAN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19556"/>
            <a:ext cx="3246120" cy="3922776"/>
          </a:xfrm>
          <a:prstGeom prst="roundRect">
            <a:avLst>
              <a:gd name="adj" fmla="val 2817"/>
            </a:avLst>
          </a:prstGeom>
          <a:solidFill>
            <a:srgbClr val="0A372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115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Kedaulatan &amp; Keamanan Data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4533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147871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on-premise di DC BSN — data nasabah tidak transit ke pihak ketiga.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13969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6473" y="205086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in-transit + LUKS disk encryption + pgcrypto untuk kolom sensitif (NIK, NoRek).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340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0392" y="2658291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3-tier: ADMIN HQ, SUPERVISOR per-cabang, PETUGAS per-binaan. Username/password + TOTP 2FA + JWT 15m.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32841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50392" y="32369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immutable 365 hari + arsip JSONL.gz harian otomatis — OJK MRTI compliant.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922776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50392" y="3815661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Single-host: Postgres 16 + API Node di Docker Compose, Caddy TLS otomatis Let's Encrypt.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502920" y="4386507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C9A84C">
              <a:alpha val="16000"/>
            </a:srgbClr>
          </a:solidFill>
          <a:ln w="1270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1"/>
          <p:cNvSpPr/>
          <p:nvPr/>
        </p:nvSpPr>
        <p:spPr>
          <a:xfrm>
            <a:off x="566928" y="43799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Memenuhi Regulasi OJK — Data Residency, POJK MRTI &amp; Tata Kelola IT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3749040" y="1024128"/>
            <a:ext cx="4983480" cy="105156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Shape 13"/>
          <p:cNvSpPr/>
          <p:nvPr/>
        </p:nvSpPr>
        <p:spPr>
          <a:xfrm>
            <a:off x="3749040" y="1024128"/>
            <a:ext cx="4983480" cy="54864"/>
          </a:xfrm>
          <a:prstGeom prst="roundRect">
            <a:avLst>
              <a:gd name="adj" fmla="val 133333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4"/>
          <p:cNvSpPr/>
          <p:nvPr/>
        </p:nvSpPr>
        <p:spPr>
          <a:xfrm>
            <a:off x="3913632" y="1115568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PRESENTATION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913632" y="129844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Pengguna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3913632" y="14950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+ React 18 · TypeScript · PWA + Capacitor APK · MapLibre + MapTiler · localStorage queue · Wake Lock API</a:t>
            </a:r>
            <a:endParaRPr lang="en-US" sz="9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26F0BC4-C918-0BC4-6742-CEB97A9EC802}"/>
              </a:ext>
            </a:extLst>
          </p:cNvPr>
          <p:cNvGrpSpPr/>
          <p:nvPr/>
        </p:nvGrpSpPr>
        <p:grpSpPr>
          <a:xfrm>
            <a:off x="3749040" y="2203704"/>
            <a:ext cx="4983480" cy="1088136"/>
            <a:chOff x="3749040" y="2231136"/>
            <a:chExt cx="4983480" cy="1115568"/>
          </a:xfrm>
        </p:grpSpPr>
        <p:sp>
          <p:nvSpPr>
            <p:cNvPr id="24" name="Shape 17"/>
            <p:cNvSpPr/>
            <p:nvPr/>
          </p:nvSpPr>
          <p:spPr>
            <a:xfrm>
              <a:off x="3749040" y="2231136"/>
              <a:ext cx="4983480" cy="1115568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Shape 18"/>
            <p:cNvSpPr/>
            <p:nvPr/>
          </p:nvSpPr>
          <p:spPr>
            <a:xfrm>
              <a:off x="3749040" y="2231136"/>
              <a:ext cx="4983480" cy="54864"/>
            </a:xfrm>
            <a:prstGeom prst="roundRect">
              <a:avLst>
                <a:gd name="adj" fmla="val 133333"/>
              </a:avLst>
            </a:prstGeom>
            <a:solidFill>
              <a:srgbClr val="C9A84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26" name="Text 19"/>
          <p:cNvSpPr/>
          <p:nvPr/>
        </p:nvSpPr>
        <p:spPr>
          <a:xfrm>
            <a:off x="3913632" y="2322576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BUSINESS LOGIC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913632" y="250545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Services (190+ Endpoints)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3913632" y="273405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22 + Express · TypeScript + Zod · JWT 15m + Refresh 7d · TOTP 2FA · Prisma ORM · RBAC + Branch-scoping · sharp Watermarking</a:t>
            </a:r>
            <a:endParaRPr lang="en-US" sz="90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C42DB8-8D52-9C4A-EC3F-6CD5EB1B2E66}"/>
              </a:ext>
            </a:extLst>
          </p:cNvPr>
          <p:cNvGrpSpPr/>
          <p:nvPr/>
        </p:nvGrpSpPr>
        <p:grpSpPr>
          <a:xfrm>
            <a:off x="3749040" y="3383280"/>
            <a:ext cx="4983480" cy="996696"/>
            <a:chOff x="3749040" y="3438144"/>
            <a:chExt cx="4983480" cy="1115568"/>
          </a:xfrm>
        </p:grpSpPr>
        <p:sp>
          <p:nvSpPr>
            <p:cNvPr id="29" name="Shape 22"/>
            <p:cNvSpPr/>
            <p:nvPr/>
          </p:nvSpPr>
          <p:spPr>
            <a:xfrm>
              <a:off x="3749040" y="3438144"/>
              <a:ext cx="4983480" cy="1115568"/>
            </a:xfrm>
            <a:prstGeom prst="roundRect">
              <a:avLst>
                <a:gd name="adj" fmla="val 6557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0" name="Shape 23"/>
            <p:cNvSpPr/>
            <p:nvPr/>
          </p:nvSpPr>
          <p:spPr>
            <a:xfrm>
              <a:off x="3749040" y="3438144"/>
              <a:ext cx="4983480" cy="54864"/>
            </a:xfrm>
            <a:prstGeom prst="roundRect">
              <a:avLst>
                <a:gd name="adj" fmla="val 133333"/>
              </a:avLst>
            </a:prstGeom>
            <a:solidFill>
              <a:srgbClr val="2E7D5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31" name="Text 24"/>
          <p:cNvSpPr/>
          <p:nvPr/>
        </p:nvSpPr>
        <p:spPr>
          <a:xfrm>
            <a:off x="3913632" y="3529584"/>
            <a:ext cx="4663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DATA &amp; INFRA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3913632" y="371246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Persistensi, Messaging &amp; Observability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3913632" y="3896029"/>
            <a:ext cx="4727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SSE Real-time · FCM Push (Firebase) · Web Push VAPID · BlastGateway pluggable (Twilio/WA-ready) · pino structured log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3749040" y="4471416"/>
            <a:ext cx="4983480" cy="47548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5" name="Text 28"/>
          <p:cNvSpPr/>
          <p:nvPr/>
        </p:nvSpPr>
        <p:spPr>
          <a:xfrm>
            <a:off x="3913632" y="4526623"/>
            <a:ext cx="46634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 Compose · ⚡ Caddy TLS 1.3 + HTTP/3 · 🔄 CI/CD GitHub Actions · 🔒 RBAC + Audit Immutable · MIT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Model Sistem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ENTITAS DATA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E2C97E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BSN Lacak terdiri dari 35+ entitas data terintegrasi (Branch, User, Petugas, Nasabah, Angsuran, Kunjungan, Attendance, ChatMessage, PushSubscription, Audit, dll). Berikut 8 entitas inti.</a:t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 err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0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9105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7276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6072" y="188366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Cabang BSN. Root entity untuk multi-tenancy. Admin HQ melihat semua, Supervisor hanya cabangnya.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9464" y="148132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1591056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26664" y="157276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34056" y="188366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Akun: username, bcrypt hash (cost 12), role, branchId, TOTP, lockout 5x gagal.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27448" y="148132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59105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648" y="157276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Petugas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892040" y="188366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collector: userId (1:1), NIP, HP, lastPosition (lat/lng/at) diperbarui tiap GPS ping.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885432" y="148132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0024" y="159105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42632" y="157276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Nasabah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7050024" y="188366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 pembiayaan: NIK, akad, kolektabilitas (1-5), outstanding, koordinat, DPD.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11480" y="276148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" y="2871216"/>
            <a:ext cx="219456" cy="2194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68680" y="28529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Angsuran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576072" y="316382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pembayaran: nasabahId, amount, metode (tunai/transfer), createdAt.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2569464" y="276148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34056" y="2871216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026664" y="28529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Kunjungan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2734056" y="316382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Laporan: GPS, riskScore, riskFlags[], foto ber-watermark, reviewStatus Supervisor.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4727448" y="276148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2871216"/>
            <a:ext cx="219456" cy="21945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184648" y="28529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Blast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4892040" y="316382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komunikasi WA/SMS: template, segmen, scheduledAt, status, terkirim, gagal.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885432" y="2761488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024" y="2871216"/>
            <a:ext cx="219456" cy="219456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342632" y="2852928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AuditLog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7050024" y="3163824"/>
            <a:ext cx="1737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immutable: actor, action, IP, requestId, meta(JSONB). Tidak dapat dimodifikasi.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411480" y="4078224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29"/>
          <p:cNvSpPr/>
          <p:nvPr/>
        </p:nvSpPr>
        <p:spPr>
          <a:xfrm>
            <a:off x="41148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2200" dirty="0"/>
          </a:p>
        </p:txBody>
      </p:sp>
      <p:sp>
        <p:nvSpPr>
          <p:cNvPr id="40" name="Text 30"/>
          <p:cNvSpPr/>
          <p:nvPr/>
        </p:nvSpPr>
        <p:spPr>
          <a:xfrm>
            <a:off x="411480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Entitas Total</a:t>
            </a:r>
            <a:endParaRPr lang="en-US" sz="1000" dirty="0"/>
          </a:p>
        </p:txBody>
      </p:sp>
      <p:sp>
        <p:nvSpPr>
          <p:cNvPr id="41" name="Shape 31"/>
          <p:cNvSpPr/>
          <p:nvPr/>
        </p:nvSpPr>
        <p:spPr>
          <a:xfrm>
            <a:off x="2569464" y="4078224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2"/>
          <p:cNvSpPr/>
          <p:nvPr/>
        </p:nvSpPr>
        <p:spPr>
          <a:xfrm>
            <a:off x="2569464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190+</a:t>
            </a:r>
            <a:endParaRPr lang="en-US" sz="2200" dirty="0"/>
          </a:p>
        </p:txBody>
      </p:sp>
      <p:sp>
        <p:nvSpPr>
          <p:cNvPr id="43" name="Text 33"/>
          <p:cNvSpPr/>
          <p:nvPr/>
        </p:nvSpPr>
        <p:spPr>
          <a:xfrm>
            <a:off x="2569464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727448" y="4078224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35"/>
          <p:cNvSpPr/>
          <p:nvPr/>
        </p:nvSpPr>
        <p:spPr>
          <a:xfrm>
            <a:off x="4727448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</a:t>
            </a:r>
            <a:endParaRPr lang="en-US" sz="2200" dirty="0"/>
          </a:p>
        </p:txBody>
      </p:sp>
      <p:sp>
        <p:nvSpPr>
          <p:cNvPr id="46" name="Text 36"/>
          <p:cNvSpPr/>
          <p:nvPr/>
        </p:nvSpPr>
        <p:spPr>
          <a:xfrm>
            <a:off x="4727448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ORM</a:t>
            </a:r>
            <a:endParaRPr lang="en-US" sz="1000" dirty="0"/>
          </a:p>
        </p:txBody>
      </p:sp>
      <p:sp>
        <p:nvSpPr>
          <p:cNvPr id="47" name="Shape 37"/>
          <p:cNvSpPr/>
          <p:nvPr/>
        </p:nvSpPr>
        <p:spPr>
          <a:xfrm>
            <a:off x="6885432" y="4078224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38"/>
          <p:cNvSpPr/>
          <p:nvPr/>
        </p:nvSpPr>
        <p:spPr>
          <a:xfrm>
            <a:off x="6885432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</a:t>
            </a:r>
            <a:endParaRPr lang="en-US" sz="2200" dirty="0"/>
          </a:p>
        </p:txBody>
      </p:sp>
      <p:sp>
        <p:nvSpPr>
          <p:cNvPr id="49" name="Text 39"/>
          <p:cNvSpPr/>
          <p:nvPr/>
        </p:nvSpPr>
        <p:spPr>
          <a:xfrm>
            <a:off x="6885432" y="44622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Standard</a:t>
            </a:r>
            <a:endParaRPr lang="en-US" sz="1000" dirty="0"/>
          </a:p>
        </p:txBody>
      </p:sp>
      <p:sp>
        <p:nvSpPr>
          <p:cNvPr id="50" name="Text 40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&amp; Dashboard Manajemen Back-Office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01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199339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11480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5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Tracking Petugas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via SSE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9464" y="1024128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569464" y="199339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69464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Kol 1–5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69464" y="1581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Kolektabilitas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Zona &amp; Cabang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27448" y="1024128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727448" y="199339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27448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5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27448" y="1581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Audit Trail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(OJK)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85432" y="1030659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885432" y="199339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85432" y="105156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85432" y="158191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Dashboard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&amp; 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2194560"/>
            <a:ext cx="4169664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304288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05256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Allocation Engine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576072" y="2596896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Distribusi otomatis 3-parameter: zonasi Haversine + DPD + load balance</a:t>
            </a:r>
            <a:endParaRPr lang="en-US" sz="1000" dirty="0"/>
          </a:p>
          <a:p>
            <a:pPr marL="0" indent="0" algn="just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Supervisor dapat override &amp; re-assign manual kapan saja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Auto-balance round-robin — merata antar petugas per cabang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18304" y="2194560"/>
            <a:ext cx="417880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0428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12664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GIS &amp; Live Tracking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983480" y="2596896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Marker live petugas + polyline rute harian + time-on-site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Klik marker → linimasa kunjungan per petugas per hari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Basemap MapTiler (hemat biaya) atau Google Maps Platform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11480" y="3547872"/>
            <a:ext cx="4142232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657600"/>
            <a:ext cx="256032" cy="256032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05256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Analitik &amp; Pelaporan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576072" y="395020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Tren arus pembayaran 14 hari + leaderboard kolektor terbaik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Perbandingan realisasi vs target harian/mingguan/bulanan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Export laporan CSV &amp; PDF — /api/analytics/closing.csv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718304" y="3547872"/>
            <a:ext cx="417880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657600"/>
            <a:ext cx="256032" cy="256032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312664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&amp; Audit Compliance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4983480" y="3950208"/>
            <a:ext cx="3977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Antrian laporan dengan badge risk score + foto preview modal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Supervisor approve/reject + catatan + push notif ke petugas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Arsip JSONL.gz harian otomatis untuk kepatuhan OJK MRTI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Keunggulan Operasional Lapangan — Mobile PWA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02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3291840" cy="3840480"/>
          </a:xfrm>
          <a:prstGeom prst="roundRect">
            <a:avLst>
              <a:gd name="adj" fmla="val 2778"/>
            </a:avLst>
          </a:prstGeom>
          <a:solidFill>
            <a:srgbClr val="0A372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1155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Petugas — 5 Tab + Overlay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81328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536192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18288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Install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1572768" y="1481328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1952" y="15361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72768" y="18288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</a:t>
            </a: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</a:t>
            </a:r>
          </a:p>
          <a:p>
            <a:pPr marL="0" indent="0" algn="ctr">
              <a:buNone/>
            </a:pPr>
            <a:r>
              <a:rPr lang="en-US" sz="8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Harian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2596896" y="1481328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153619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96896" y="182880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Rute</a:t>
            </a: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Optimal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548640" y="2286000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234086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26334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Lapor + In-App Camera</a:t>
            </a:r>
            <a:endParaRPr lang="en-US" sz="800" dirty="0"/>
          </a:p>
        </p:txBody>
      </p:sp>
      <p:sp>
        <p:nvSpPr>
          <p:cNvPr id="19" name="Shape 13"/>
          <p:cNvSpPr/>
          <p:nvPr/>
        </p:nvSpPr>
        <p:spPr>
          <a:xfrm>
            <a:off x="1572768" y="2286000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1952" y="2340864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72768" y="26334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&amp; Status Review</a:t>
            </a:r>
            <a:endParaRPr lang="en-US" sz="800" dirty="0"/>
          </a:p>
        </p:txBody>
      </p:sp>
      <p:sp>
        <p:nvSpPr>
          <p:cNvPr id="22" name="Shape 15"/>
          <p:cNvSpPr/>
          <p:nvPr/>
        </p:nvSpPr>
        <p:spPr>
          <a:xfrm>
            <a:off x="2596896" y="2286000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2340864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2596896" y="263347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Push</a:t>
            </a:r>
            <a:endParaRPr lang="en-US" sz="800" dirty="0"/>
          </a:p>
        </p:txBody>
      </p:sp>
      <p:sp>
        <p:nvSpPr>
          <p:cNvPr id="25" name="Shape 17"/>
          <p:cNvSpPr/>
          <p:nvPr/>
        </p:nvSpPr>
        <p:spPr>
          <a:xfrm>
            <a:off x="548640" y="3090672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" y="3145536"/>
            <a:ext cx="256032" cy="256032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48640" y="343814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Capaian</a:t>
            </a:r>
            <a:endParaRPr lang="en-US" sz="800" dirty="0"/>
          </a:p>
        </p:txBody>
      </p:sp>
      <p:sp>
        <p:nvSpPr>
          <p:cNvPr id="28" name="Shape 19"/>
          <p:cNvSpPr/>
          <p:nvPr/>
        </p:nvSpPr>
        <p:spPr>
          <a:xfrm>
            <a:off x="1572768" y="3090672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1952" y="3145536"/>
            <a:ext cx="256032" cy="256032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72768" y="343814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Absensi</a:t>
            </a: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GPS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Clock-In</a:t>
            </a:r>
            <a:endParaRPr lang="en-US" sz="800" dirty="0"/>
          </a:p>
        </p:txBody>
      </p:sp>
      <p:sp>
        <p:nvSpPr>
          <p:cNvPr id="31" name="Shape 21"/>
          <p:cNvSpPr/>
          <p:nvPr/>
        </p:nvSpPr>
        <p:spPr>
          <a:xfrm>
            <a:off x="2596896" y="3090672"/>
            <a:ext cx="950976" cy="658368"/>
          </a:xfrm>
          <a:prstGeom prst="roundRect">
            <a:avLst>
              <a:gd name="adj" fmla="val 972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26080" y="3145536"/>
            <a:ext cx="256032" cy="256032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2596896" y="343814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Queue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800" dirty="0"/>
          </a:p>
        </p:txBody>
      </p:sp>
      <p:sp>
        <p:nvSpPr>
          <p:cNvPr id="34" name="Shape 23"/>
          <p:cNvSpPr/>
          <p:nvPr/>
        </p:nvSpPr>
        <p:spPr>
          <a:xfrm>
            <a:off x="502920" y="4361688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C9A84C">
              <a:alpha val="16000"/>
            </a:srgbClr>
          </a:solidFill>
          <a:ln w="12700">
            <a:solidFill>
              <a:srgbClr val="C9A84C">
                <a:alpha val="3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24"/>
          <p:cNvSpPr/>
          <p:nvPr/>
        </p:nvSpPr>
        <p:spPr>
          <a:xfrm>
            <a:off x="566928" y="437997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browser (Android/iOS) + APK Android native (Capacitor + FCM) — sideload via GitHub Actions</a:t>
            </a:r>
            <a:endParaRPr lang="en-US" sz="1000" dirty="0"/>
          </a:p>
        </p:txBody>
      </p:sp>
      <p:sp>
        <p:nvSpPr>
          <p:cNvPr id="36" name="Shape 25"/>
          <p:cNvSpPr/>
          <p:nvPr/>
        </p:nvSpPr>
        <p:spPr>
          <a:xfrm>
            <a:off x="3794760" y="1024128"/>
            <a:ext cx="4937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26"/>
          <p:cNvSpPr/>
          <p:nvPr/>
        </p:nvSpPr>
        <p:spPr>
          <a:xfrm>
            <a:off x="3886200" y="11612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59352" y="1216152"/>
            <a:ext cx="237744" cy="237744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361688" y="10972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 Architecture</a:t>
            </a:r>
            <a:endParaRPr lang="en-US" sz="1250" dirty="0"/>
          </a:p>
        </p:txBody>
      </p:sp>
      <p:sp>
        <p:nvSpPr>
          <p:cNvPr id="40" name="Text 28"/>
          <p:cNvSpPr/>
          <p:nvPr/>
        </p:nvSpPr>
        <p:spPr>
          <a:xfrm>
            <a:off x="4361688" y="13533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localStorage + retry queue clientTs — data tetap masuk di blank spot. Sinkron otomatis saat online/focus. Wake Lock jaga layar aktif saat clock-in.</a:t>
            </a:r>
            <a:endParaRPr lang="en-US" sz="1050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31127A1-7032-D220-D4B4-ACF9B0227B00}"/>
              </a:ext>
            </a:extLst>
          </p:cNvPr>
          <p:cNvGrpSpPr/>
          <p:nvPr/>
        </p:nvGrpSpPr>
        <p:grpSpPr>
          <a:xfrm>
            <a:off x="3776472" y="2029968"/>
            <a:ext cx="4937760" cy="841248"/>
            <a:chOff x="3794760" y="1938528"/>
            <a:chExt cx="4937760" cy="84124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1142C38F-C86B-DA9C-37D6-5DD9E0E0AC73}"/>
                </a:ext>
              </a:extLst>
            </p:cNvPr>
            <p:cNvGrpSpPr/>
            <p:nvPr/>
          </p:nvGrpSpPr>
          <p:grpSpPr>
            <a:xfrm>
              <a:off x="3794760" y="1938528"/>
              <a:ext cx="4937760" cy="841248"/>
              <a:chOff x="3794760" y="1938528"/>
              <a:chExt cx="4937760" cy="841248"/>
            </a:xfrm>
          </p:grpSpPr>
          <p:sp>
            <p:nvSpPr>
              <p:cNvPr id="41" name="Shape 29"/>
              <p:cNvSpPr/>
              <p:nvPr/>
            </p:nvSpPr>
            <p:spPr>
              <a:xfrm>
                <a:off x="3794760" y="1938528"/>
                <a:ext cx="4937760" cy="841248"/>
              </a:xfrm>
              <a:prstGeom prst="roundRect">
                <a:avLst>
                  <a:gd name="adj" fmla="val 8696"/>
                </a:avLst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prstDash val="solid"/>
              </a:ln>
              <a:effectLst>
                <a:outerShdw blurRad="101600" dist="25400" dir="2700000" algn="bl" rotWithShape="0">
                  <a:srgbClr val="000000">
                    <a:alpha val="10000"/>
                  </a:srgbClr>
                </a:outerShdw>
              </a:effectLst>
            </p:spPr>
          </p:sp>
          <p:sp>
            <p:nvSpPr>
              <p:cNvPr id="42" name="Shape 30"/>
              <p:cNvSpPr/>
              <p:nvPr/>
            </p:nvSpPr>
            <p:spPr>
              <a:xfrm>
                <a:off x="3886200" y="2075688"/>
                <a:ext cx="384048" cy="384048"/>
              </a:xfrm>
              <a:prstGeom prst="roundRect">
                <a:avLst>
                  <a:gd name="adj" fmla="val 19048"/>
                </a:avLst>
              </a:prstGeom>
              <a:solidFill>
                <a:srgbClr val="FBF5E3"/>
              </a:solidFill>
              <a:ln w="12700">
                <a:solidFill>
                  <a:srgbClr val="FFFFFF">
                    <a:alpha val="0"/>
                  </a:srgbClr>
                </a:solidFill>
                <a:prstDash val="solid"/>
              </a:ln>
            </p:spPr>
          </p:sp>
          <p:pic>
            <p:nvPicPr>
              <p:cNvPr id="43" name="Image 10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9352" y="2130552"/>
                <a:ext cx="237744" cy="237744"/>
              </a:xfrm>
              <a:prstGeom prst="rect">
                <a:avLst/>
              </a:prstGeom>
            </p:spPr>
          </p:pic>
          <p:sp>
            <p:nvSpPr>
              <p:cNvPr id="44" name="Text 31"/>
              <p:cNvSpPr/>
              <p:nvPr/>
            </p:nvSpPr>
            <p:spPr>
              <a:xfrm>
                <a:off x="4361688" y="2011680"/>
                <a:ext cx="4251960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50" b="1" dirty="0">
                    <a:solidFill>
                      <a:srgbClr val="0A3728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Rute Cerdas Nearest-Neighbor</a:t>
                </a:r>
                <a:endParaRPr lang="en-US" sz="1250" dirty="0"/>
              </a:p>
            </p:txBody>
          </p:sp>
        </p:grpSp>
        <p:sp>
          <p:nvSpPr>
            <p:cNvPr id="45" name="Text 32"/>
            <p:cNvSpPr/>
            <p:nvPr/>
          </p:nvSpPr>
          <p:spPr>
            <a:xfrm>
              <a:off x="4361688" y="226771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050" dirty="0">
                  <a:solidFill>
                    <a:srgbClr val="6B8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Algoritma menyusun urutan kunjungan paling efisien dari posisi GPS saat ini — hemat BBM, waktu &amp; tambah kunjungan per hari.</a:t>
              </a:r>
              <a:endParaRPr lang="en-US" sz="105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99AD985-6DEF-3A3E-52CD-CFAF630C494E}"/>
              </a:ext>
            </a:extLst>
          </p:cNvPr>
          <p:cNvGrpSpPr/>
          <p:nvPr/>
        </p:nvGrpSpPr>
        <p:grpSpPr>
          <a:xfrm>
            <a:off x="3767328" y="3031889"/>
            <a:ext cx="4937760" cy="841248"/>
            <a:chOff x="3794760" y="2818965"/>
            <a:chExt cx="4937760" cy="841248"/>
          </a:xfrm>
        </p:grpSpPr>
        <p:sp>
          <p:nvSpPr>
            <p:cNvPr id="46" name="Shape 33"/>
            <p:cNvSpPr/>
            <p:nvPr/>
          </p:nvSpPr>
          <p:spPr>
            <a:xfrm>
              <a:off x="3794760" y="2818965"/>
              <a:ext cx="4937760" cy="841248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47" name="Shape 34"/>
            <p:cNvSpPr/>
            <p:nvPr/>
          </p:nvSpPr>
          <p:spPr>
            <a:xfrm>
              <a:off x="3886200" y="2990088"/>
              <a:ext cx="384048" cy="384048"/>
            </a:xfrm>
            <a:prstGeom prst="roundRect">
              <a:avLst>
                <a:gd name="adj" fmla="val 19048"/>
              </a:avLst>
            </a:prstGeom>
            <a:solidFill>
              <a:srgbClr val="E8EA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8" name="Image 11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9352" y="3044952"/>
              <a:ext cx="237744" cy="237744"/>
            </a:xfrm>
            <a:prstGeom prst="rect">
              <a:avLst/>
            </a:prstGeom>
          </p:spPr>
        </p:pic>
        <p:sp>
          <p:nvSpPr>
            <p:cNvPr id="49" name="Text 35"/>
            <p:cNvSpPr/>
            <p:nvPr/>
          </p:nvSpPr>
          <p:spPr>
            <a:xfrm>
              <a:off x="4361688" y="2926080"/>
              <a:ext cx="42519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A372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In-App Camera + Server Watermark</a:t>
              </a:r>
              <a:endParaRPr lang="en-US" sz="1250" dirty="0"/>
            </a:p>
          </p:txBody>
        </p:sp>
        <p:sp>
          <p:nvSpPr>
            <p:cNvPr id="50" name="Text 36"/>
            <p:cNvSpPr/>
            <p:nvPr/>
          </p:nvSpPr>
          <p:spPr>
            <a:xfrm>
              <a:off x="4361688" y="318211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050" dirty="0">
                  <a:solidFill>
                    <a:srgbClr val="6B8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Foto hanya via kamera in-app — galeri diblokir. Server tulis GPS, timestamp &amp; ID permanen ke EXIF via sharp engine.</a:t>
              </a:r>
              <a:endParaRPr lang="en-US" sz="1050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E159AF7-13F5-54BD-C43F-AE4371C3E3D9}"/>
              </a:ext>
            </a:extLst>
          </p:cNvPr>
          <p:cNvGrpSpPr/>
          <p:nvPr/>
        </p:nvGrpSpPr>
        <p:grpSpPr>
          <a:xfrm>
            <a:off x="3767328" y="4037729"/>
            <a:ext cx="4937760" cy="841248"/>
            <a:chOff x="3794760" y="3767328"/>
            <a:chExt cx="4937760" cy="841248"/>
          </a:xfrm>
        </p:grpSpPr>
        <p:sp>
          <p:nvSpPr>
            <p:cNvPr id="51" name="Shape 37"/>
            <p:cNvSpPr/>
            <p:nvPr/>
          </p:nvSpPr>
          <p:spPr>
            <a:xfrm>
              <a:off x="3794760" y="3767328"/>
              <a:ext cx="4937760" cy="841248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2" name="Shape 38"/>
            <p:cNvSpPr/>
            <p:nvPr/>
          </p:nvSpPr>
          <p:spPr>
            <a:xfrm>
              <a:off x="3886200" y="3904488"/>
              <a:ext cx="384048" cy="384048"/>
            </a:xfrm>
            <a:prstGeom prst="roundRect">
              <a:avLst>
                <a:gd name="adj" fmla="val 19048"/>
              </a:avLst>
            </a:prstGeom>
            <a:solidFill>
              <a:srgbClr val="FCE4EC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3" name="Image 1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59352" y="3959352"/>
              <a:ext cx="237744" cy="237744"/>
            </a:xfrm>
            <a:prstGeom prst="rect">
              <a:avLst/>
            </a:prstGeom>
          </p:spPr>
        </p:pic>
        <p:sp>
          <p:nvSpPr>
            <p:cNvPr id="54" name="Text 39"/>
            <p:cNvSpPr/>
            <p:nvPr/>
          </p:nvSpPr>
          <p:spPr>
            <a:xfrm>
              <a:off x="4361688" y="3840480"/>
              <a:ext cx="42519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0A372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Anti-Tampering Native Shell</a:t>
              </a:r>
              <a:endParaRPr lang="en-US" sz="1250" dirty="0"/>
            </a:p>
          </p:txBody>
        </p:sp>
        <p:sp>
          <p:nvSpPr>
            <p:cNvPr id="55" name="Text 40"/>
            <p:cNvSpPr/>
            <p:nvPr/>
          </p:nvSpPr>
          <p:spPr>
            <a:xfrm>
              <a:off x="4361688" y="4096512"/>
              <a:ext cx="42519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35000"/>
                </a:lnSpc>
                <a:buNone/>
              </a:pPr>
              <a:r>
                <a:rPr lang="en-US" sz="1050" dirty="0">
                  <a:solidFill>
                    <a:srgbClr val="6B8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Deteksi Fake GPS/Mock Location, Root/Jailbreak &amp; modifikasi binary via Capacitor + plugin freerasp secara real-time.</a:t>
              </a:r>
              <a:endParaRPr lang="en-US" sz="1050" dirty="0"/>
            </a:p>
          </p:txBody>
        </p:sp>
      </p:grpSp>
      <p:sp>
        <p:nvSpPr>
          <p:cNvPr id="56" name="Text 41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Proteksi Anti-Fraud Berlapis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INTEGRITAS DATA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11480" y="1024128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76072" y="1161288"/>
            <a:ext cx="347472" cy="347472"/>
          </a:xfrm>
          <a:prstGeom prst="ellipse">
            <a:avLst/>
          </a:prstGeom>
          <a:solidFill>
            <a:srgbClr val="1B5E40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161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96696" y="11338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Geo-Fencing 50m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6072" y="15727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tolak laporan jika jarak petugas &gt;50 meter dari koordinat terdaftar nasabah (Haversine server-side). Returns HTTP 403.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" y="2450592"/>
            <a:ext cx="2450592" cy="219456"/>
          </a:xfrm>
          <a:prstGeom prst="roundRect">
            <a:avLst>
              <a:gd name="adj" fmla="val 25000"/>
            </a:avLst>
          </a:prstGeom>
          <a:solidFill>
            <a:srgbClr val="1B5E40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76072" y="24505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50m — Server Reject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00984" y="102412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300984" y="1024128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3465576" y="1161288"/>
            <a:ext cx="347472" cy="347472"/>
          </a:xfrm>
          <a:prstGeom prst="ellipse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4" y="1216152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1338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In-App Camera Lock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3465576" y="15727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bukti wajib diambil langsung via kamera dalam aplikasi. Upload dari galeri foto diblokir sepenuhnya di level sistem.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465576" y="2450592"/>
            <a:ext cx="2450592" cy="219456"/>
          </a:xfrm>
          <a:prstGeom prst="roundRect">
            <a:avLst>
              <a:gd name="adj" fmla="val 25000"/>
            </a:avLst>
          </a:prstGeom>
          <a:solidFill>
            <a:srgbClr val="C6282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3465576" y="24505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 Upload — Diblokir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90488" y="102412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6190488" y="1024128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6355080" y="1161288"/>
            <a:ext cx="347472" cy="347472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121615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75704" y="11338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Watermarking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355080" y="15727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sharp menulis GPS, timestamp, ID petugas &amp; kunjungan secara permanen ke EXIF metadata foto. Immutable tidak dapat dihapus.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355080" y="2450592"/>
            <a:ext cx="2450592" cy="219456"/>
          </a:xfrm>
          <a:prstGeom prst="roundRect">
            <a:avLst>
              <a:gd name="adj" fmla="val 25000"/>
            </a:avLst>
          </a:prstGeom>
          <a:solidFill>
            <a:srgbClr val="C9A84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6355080" y="24505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EXIF — sharp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11480" y="285292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Shape 25"/>
          <p:cNvSpPr/>
          <p:nvPr/>
        </p:nvSpPr>
        <p:spPr>
          <a:xfrm>
            <a:off x="411480" y="2852928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576072" y="2990088"/>
            <a:ext cx="347472" cy="347472"/>
          </a:xfrm>
          <a:prstGeom prst="ellipse">
            <a:avLst/>
          </a:prstGeom>
          <a:solidFill>
            <a:srgbClr val="1B5E40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44952"/>
            <a:ext cx="219456" cy="219456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96696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Speed-Jump Detection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576072" y="3401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 kecepatan &gt;150 km/jam antar check-in terindikasi GPS spoofing — dicatat sebagai insiden kecurigaan &amp; diteruskan Supervisor.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76072" y="4279392"/>
            <a:ext cx="2450592" cy="219456"/>
          </a:xfrm>
          <a:prstGeom prst="roundRect">
            <a:avLst>
              <a:gd name="adj" fmla="val 25000"/>
            </a:avLst>
          </a:prstGeom>
          <a:solidFill>
            <a:srgbClr val="1B5E40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0"/>
          <p:cNvSpPr/>
          <p:nvPr/>
        </p:nvSpPr>
        <p:spPr>
          <a:xfrm>
            <a:off x="576072" y="42793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5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&gt; 150 km/h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300984" y="285292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8" name="Shape 32"/>
          <p:cNvSpPr/>
          <p:nvPr/>
        </p:nvSpPr>
        <p:spPr>
          <a:xfrm>
            <a:off x="3300984" y="2852928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Shape 33"/>
          <p:cNvSpPr/>
          <p:nvPr/>
        </p:nvSpPr>
        <p:spPr>
          <a:xfrm>
            <a:off x="3465576" y="2990088"/>
            <a:ext cx="347472" cy="347472"/>
          </a:xfrm>
          <a:prstGeom prst="ellipse">
            <a:avLst/>
          </a:prstGeom>
          <a:solidFill>
            <a:srgbClr val="C6282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9584" y="3044952"/>
            <a:ext cx="219456" cy="21945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886200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Anti-Tampering Sederhana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3465576" y="3401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wajib via in-app camera (capture attribute). Backend reject upload non-magic-byte JPEG/PNG. EXIF freshness check tolak foto &gt;1 jam.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3465576" y="4279392"/>
            <a:ext cx="2450592" cy="219456"/>
          </a:xfrm>
          <a:prstGeom prst="roundRect">
            <a:avLst>
              <a:gd name="adj" fmla="val 25000"/>
            </a:avLst>
          </a:prstGeom>
          <a:solidFill>
            <a:srgbClr val="C62828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" name="Text 37"/>
          <p:cNvSpPr/>
          <p:nvPr/>
        </p:nvSpPr>
        <p:spPr>
          <a:xfrm>
            <a:off x="3465576" y="42793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+ Magic Byte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190488" y="285292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6" name="Shape 39"/>
          <p:cNvSpPr/>
          <p:nvPr/>
        </p:nvSpPr>
        <p:spPr>
          <a:xfrm>
            <a:off x="6190488" y="2852928"/>
            <a:ext cx="2743200" cy="64008"/>
          </a:xfrm>
          <a:prstGeom prst="roundRect">
            <a:avLst>
              <a:gd name="adj" fmla="val 114286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Shape 40"/>
          <p:cNvSpPr/>
          <p:nvPr/>
        </p:nvSpPr>
        <p:spPr>
          <a:xfrm>
            <a:off x="6355080" y="2990088"/>
            <a:ext cx="347472" cy="347472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9088" y="3044952"/>
            <a:ext cx="219456" cy="219456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775704" y="296265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EXIF Freshness Check</a:t>
            </a:r>
            <a:endParaRPr lang="en-US" sz="1250" dirty="0"/>
          </a:p>
        </p:txBody>
      </p:sp>
      <p:sp>
        <p:nvSpPr>
          <p:cNvPr id="50" name="Text 42"/>
          <p:cNvSpPr/>
          <p:nvPr/>
        </p:nvSpPr>
        <p:spPr>
          <a:xfrm>
            <a:off x="6355080" y="3401568"/>
            <a:ext cx="24871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foto diverifikasi server — foto usia &gt;1 jam ditolak otomatis untuk mencegah daur ulang foto dari sesi sebelumnya.</a:t>
            </a:r>
            <a:endParaRPr lang="en-US" sz="1050" dirty="0"/>
          </a:p>
        </p:txBody>
      </p:sp>
      <p:sp>
        <p:nvSpPr>
          <p:cNvPr id="51" name="Shape 43"/>
          <p:cNvSpPr/>
          <p:nvPr/>
        </p:nvSpPr>
        <p:spPr>
          <a:xfrm>
            <a:off x="6355080" y="4279392"/>
            <a:ext cx="2450592" cy="219456"/>
          </a:xfrm>
          <a:prstGeom prst="roundRect">
            <a:avLst>
              <a:gd name="adj" fmla="val 25000"/>
            </a:avLst>
          </a:prstGeom>
          <a:solidFill>
            <a:srgbClr val="C9A84C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4"/>
          <p:cNvSpPr/>
          <p:nvPr/>
        </p:nvSpPr>
        <p:spPr>
          <a:xfrm>
            <a:off x="6355080" y="4279392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Age: 1 Jam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411480" y="4617720"/>
            <a:ext cx="8569234" cy="356616"/>
          </a:xfrm>
          <a:prstGeom prst="roundRect">
            <a:avLst>
              <a:gd name="adj" fmla="val 18421"/>
            </a:avLst>
          </a:prstGeom>
          <a:solidFill>
            <a:srgbClr val="0A37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9496" y="4696750"/>
            <a:ext cx="201168" cy="201168"/>
          </a:xfrm>
          <a:prstGeom prst="rect">
            <a:avLst/>
          </a:prstGeom>
        </p:spPr>
      </p:pic>
      <p:sp>
        <p:nvSpPr>
          <p:cNvPr id="55" name="Text 46"/>
          <p:cNvSpPr/>
          <p:nvPr/>
        </p:nvSpPr>
        <p:spPr>
          <a:xfrm>
            <a:off x="805325" y="4645152"/>
            <a:ext cx="8110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lapangan melewati Risk Scoring Engine server-side — riskScore &amp; </a:t>
            </a:r>
            <a:r>
              <a:rPr lang="en-US" sz="9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riskFlags</a:t>
            </a: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tercatat</a:t>
            </a: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setiap Kunjungan. Supervisor dapat approve/reject dengan push notifikasi otomatis ke petugas.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809244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Komunikasi Santun via WhatsApp Automation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03 — CUSTOMER ENGAGEMENT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1024128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BlastGateway pluggable — Twilio SMS sudah terintegrasi, slot WhatsApp Business Cloud API siap aktivasi saat BSN punya Meta Business account. Template santun sesuai etika muamalah.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11480" y="1572768"/>
            <a:ext cx="64008" cy="987552"/>
          </a:xfrm>
          <a:prstGeom prst="roundRect">
            <a:avLst>
              <a:gd name="adj" fmla="val 57143"/>
            </a:avLst>
          </a:prstGeom>
          <a:solidFill>
            <a:srgbClr val="1B5E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1645920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PRE-DUE REMINDER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Pengingat Jatuh Tempo (H-7 · H-3 · H-1)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208483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otomatis terjadwal dengan template ramah. Mencegah keterlambatan pembayaran secara proaktif dengan nada santun.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633472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11480" y="2633472"/>
            <a:ext cx="64008" cy="987552"/>
          </a:xfrm>
          <a:prstGeom prst="roundRect">
            <a:avLst>
              <a:gd name="adj" fmla="val 57143"/>
            </a:avLst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" y="270662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PAST-DUE ESCALATION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928" y="288950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Eskalasi Berkala (DPD 1 / 7 / 14 / 30 Hari)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66928" y="31455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pesan semakin serius sesuai masa tunggakan — tetap santun, sesuai etika muamalah, tanpa bahasa intimidasi.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694176"/>
            <a:ext cx="443484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11480" y="3694176"/>
            <a:ext cx="64008" cy="987552"/>
          </a:xfrm>
          <a:prstGeom prst="roundRect">
            <a:avLst>
              <a:gd name="adj" fmla="val 57143"/>
            </a:avLst>
          </a:prstGeom>
          <a:solidFill>
            <a:srgbClr val="2E7D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3767328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INTERACTIVE CTA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6928" y="39502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 Langsung dari Chat WhatsApp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66928" y="42062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Tombol [Saya Sudah Bayar] &amp; [Butuh Bantuan] — respons nasabah tercatat otomatis di sistem untuk tindak lanjut.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987552"/>
            <a:ext cx="3749040" cy="3722914"/>
          </a:xfrm>
          <a:prstGeom prst="roundRect">
            <a:avLst>
              <a:gd name="adj" fmla="val 3158"/>
            </a:avLst>
          </a:prstGeom>
          <a:solidFill>
            <a:srgbClr val="E8E8E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983480" y="1024128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075E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120640" y="107899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648" y="1133856"/>
            <a:ext cx="201168" cy="20116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5532120" y="10789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Syariah Nasional ✓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32120" y="1298448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Business Account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074920" y="1572768"/>
            <a:ext cx="338328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5212080" y="16093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Pengingat Angsuran Pembiayaan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212080" y="18288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Assalamu'alaikum Bapak/Ibu Nasabah BSN yang terhormat. Angsuran pembiayaan Anda sebesar Rp 2.500.000 jatuh tempo 25 Juni 2026 (3 hari lagi). Mohon diselesaikan tepat waktu. Jazakumullah.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074920" y="2834640"/>
            <a:ext cx="16459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889504"/>
            <a:ext cx="182880" cy="18288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22392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Saya Sudah Bayar</a:t>
            </a:r>
            <a:endParaRPr lang="en-US" sz="950" dirty="0"/>
          </a:p>
        </p:txBody>
      </p:sp>
      <p:sp>
        <p:nvSpPr>
          <p:cNvPr id="33" name="Shape 29"/>
          <p:cNvSpPr/>
          <p:nvPr/>
        </p:nvSpPr>
        <p:spPr>
          <a:xfrm>
            <a:off x="6803136" y="2834640"/>
            <a:ext cx="1645920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152" y="2889504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41464" y="2852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Bantuan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5349240" y="3246120"/>
            <a:ext cx="3108960" cy="438912"/>
          </a:xfrm>
          <a:prstGeom prst="roundRect">
            <a:avLst>
              <a:gd name="adj" fmla="val 20833"/>
            </a:avLst>
          </a:prstGeom>
          <a:solidFill>
            <a:srgbClr val="DCF8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2"/>
          <p:cNvSpPr/>
          <p:nvPr/>
        </p:nvSpPr>
        <p:spPr>
          <a:xfrm>
            <a:off x="5394960" y="3264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Alhamdulillah, sudah saya transfer tadi. Terima kasih 🙏  ✓✓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5074920" y="3785616"/>
            <a:ext cx="3474720" cy="585216"/>
          </a:xfrm>
          <a:prstGeom prst="roundRect">
            <a:avLst>
              <a:gd name="adj" fmla="val 12500"/>
            </a:avLst>
          </a:prstGeom>
          <a:solidFill>
            <a:srgbClr val="E6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895344"/>
            <a:ext cx="219456" cy="219456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394960" y="38221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B4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"Saya Sudah Bayar" otomatis memicu notifikasi ke Supervisor untuk verifikasi konfirmasi pembayaran di sistem real-time.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Pelaksanaan Proyek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14 MINGGU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E2C97E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2743200" cy="1993392"/>
          </a:xfrm>
          <a:prstGeom prst="roundRect">
            <a:avLst>
              <a:gd name="adj" fmla="val 367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76072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— WAJIB (COMPLIANCE)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6072" y="129844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Geo-Fencing 50m server-side (1–2 hari)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SSO Active Directory + 2FA TOTP (1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In-app camera lock + magic-byte server validation (1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Penetration Test Eksternal OWASP (2 minggu)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024128"/>
            <a:ext cx="2743200" cy="1993392"/>
          </a:xfrm>
          <a:prstGeom prst="roundRect">
            <a:avLst>
              <a:gd name="adj" fmla="val 367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456432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UNIQUE SELLING POINT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56432" y="129844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WhatsApp Business Cloud API resmi (2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Scheduler Pre-Due &amp; Past-Due tier DPD (1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Smart Allocation 3-parameter (1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Interactive WA template CTA button (1 minggu)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024128"/>
            <a:ext cx="2743200" cy="1993392"/>
          </a:xfrm>
          <a:prstGeom prst="roundRect">
            <a:avLst>
              <a:gd name="adj" fmla="val 367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36792" y="107899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— POLISH &amp; DIFFERENTIATOR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36792" y="1298448"/>
            <a:ext cx="2468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Core Banking connector REST/SFTP (2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High Availability Postgres replica (1 minggu)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LUKS disk-level encryption (1 hari)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Prometheus + Grafana SLO monitoring (3–5 hari)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264408"/>
            <a:ext cx="7498080" cy="0"/>
          </a:xfrm>
          <a:prstGeom prst="line">
            <a:avLst/>
          </a:prstGeom>
          <a:noFill/>
          <a:ln w="19050">
            <a:solidFill>
              <a:srgbClr val="C9A84C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88136" y="3136392"/>
            <a:ext cx="256032" cy="256032"/>
          </a:xfrm>
          <a:prstGeom prst="ellipse">
            <a:avLst/>
          </a:prstGeom>
          <a:solidFill>
            <a:srgbClr val="1B5E40"/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" y="349300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1480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1–2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&amp; Setup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6344" y="4114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teknis, env Firebase + VPS, tim PIC BSN &amp; ArtiVisi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79776" y="3136392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103120" y="349300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103120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3–8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10312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Development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157984" y="4114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SSO, WA Cloud, Anti-Tampering, Dashboard, PWA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71416" y="3136392"/>
            <a:ext cx="256032" cy="256032"/>
          </a:xfrm>
          <a:prstGeom prst="ellipse">
            <a:avLst/>
          </a:prstGeom>
          <a:solidFill>
            <a:srgbClr val="1B5E40"/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794760" y="349300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794760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9–10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9476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849624" y="4114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eksternal, load testing, remediasi kritis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63056" y="3136392"/>
            <a:ext cx="256032" cy="256032"/>
          </a:xfrm>
          <a:prstGeom prst="ellipse">
            <a:avLst/>
          </a:prstGeom>
          <a:solidFill>
            <a:srgbClr val="1B5E40"/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5486400" y="349300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0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11–12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48640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UAT Staging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541264" y="4114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Petugas &amp; Supervisor BSN, bug fix tim IT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854696" y="3136392"/>
            <a:ext cx="256032" cy="25603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178040" y="3493008"/>
            <a:ext cx="155448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178040" y="35478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13–14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178040" y="37490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Go-Live + Hyper-Care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232904" y="4114800"/>
            <a:ext cx="1444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DC BSN, pelatihan massal, 30 hari pendampingan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1480" y="5047488"/>
            <a:ext cx="2011680" cy="0"/>
          </a:xfrm>
          <a:prstGeom prst="roundRect">
            <a:avLst>
              <a:gd name="adj" fmla="val Infinity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Keandalan &amp; Rekam Jejak Mitra Kerja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PT ARTIVISI?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C9A84C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4251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30352" y="11430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E6EF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11978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0972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Berpengalaman Sejak 2008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7552" y="13350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B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tahun spesialisasi sistem pembayaran &amp; infrastruktur perbankan enterprise. Dipimpin Endy Muhardin (20+ tahun di industri IT payment systems).</a:t>
            </a:r>
            <a:endParaRPr lang="en-US" sz="10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EE4857-CB2B-11F3-17D2-E70683A14607}"/>
              </a:ext>
            </a:extLst>
          </p:cNvPr>
          <p:cNvGrpSpPr/>
          <p:nvPr/>
        </p:nvGrpSpPr>
        <p:grpSpPr>
          <a:xfrm>
            <a:off x="411480" y="2016906"/>
            <a:ext cx="4251960" cy="822960"/>
            <a:chOff x="411480" y="1938528"/>
            <a:chExt cx="4251960" cy="822960"/>
          </a:xfrm>
        </p:grpSpPr>
        <p:sp>
          <p:nvSpPr>
            <p:cNvPr id="10" name="Shape 7"/>
            <p:cNvSpPr/>
            <p:nvPr/>
          </p:nvSpPr>
          <p:spPr>
            <a:xfrm>
              <a:off x="411480" y="1938528"/>
              <a:ext cx="4251960" cy="82296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1" name="Shape 8"/>
            <p:cNvSpPr/>
            <p:nvPr/>
          </p:nvSpPr>
          <p:spPr>
            <a:xfrm>
              <a:off x="530352" y="2057400"/>
              <a:ext cx="402336" cy="402336"/>
            </a:xfrm>
            <a:prstGeom prst="roundRect">
              <a:avLst>
                <a:gd name="adj" fmla="val 18182"/>
              </a:avLst>
            </a:prstGeom>
            <a:solidFill>
              <a:srgbClr val="FBF5E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504" y="2112264"/>
              <a:ext cx="256032" cy="256032"/>
            </a:xfrm>
            <a:prstGeom prst="rect">
              <a:avLst/>
            </a:prstGeom>
          </p:spPr>
        </p:pic>
        <p:sp>
          <p:nvSpPr>
            <p:cNvPr id="13" name="Text 9"/>
            <p:cNvSpPr/>
            <p:nvPr/>
          </p:nvSpPr>
          <p:spPr>
            <a:xfrm>
              <a:off x="987552" y="201168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372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CMMI Level 3 Bersertifikasi</a:t>
              </a:r>
              <a:endParaRPr lang="en-US" sz="12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987552" y="2249424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6B8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 pengembangan perangkat lunak bersertifikasi internasional — menjamin kualitas proses, metodologi &amp; deliverable proyek.</a:t>
              </a:r>
              <a:endParaRPr lang="en-US" sz="10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BCF9A03-CBC8-9794-9797-72AE806DE092}"/>
              </a:ext>
            </a:extLst>
          </p:cNvPr>
          <p:cNvGrpSpPr/>
          <p:nvPr/>
        </p:nvGrpSpPr>
        <p:grpSpPr>
          <a:xfrm>
            <a:off x="420624" y="3009684"/>
            <a:ext cx="4251960" cy="822960"/>
            <a:chOff x="411480" y="2852928"/>
            <a:chExt cx="4251960" cy="822960"/>
          </a:xfrm>
        </p:grpSpPr>
        <p:sp>
          <p:nvSpPr>
            <p:cNvPr id="15" name="Shape 11"/>
            <p:cNvSpPr/>
            <p:nvPr/>
          </p:nvSpPr>
          <p:spPr>
            <a:xfrm>
              <a:off x="411480" y="2852928"/>
              <a:ext cx="4251960" cy="82296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6" name="Shape 12"/>
            <p:cNvSpPr/>
            <p:nvPr/>
          </p:nvSpPr>
          <p:spPr>
            <a:xfrm>
              <a:off x="530352" y="2971800"/>
              <a:ext cx="402336" cy="402336"/>
            </a:xfrm>
            <a:prstGeom prst="roundRect">
              <a:avLst>
                <a:gd name="adj" fmla="val 18182"/>
              </a:avLst>
            </a:prstGeom>
            <a:solidFill>
              <a:srgbClr val="E6EFE9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7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3504" y="3026664"/>
              <a:ext cx="256032" cy="256032"/>
            </a:xfrm>
            <a:prstGeom prst="rect">
              <a:avLst/>
            </a:prstGeom>
          </p:spPr>
        </p:pic>
        <p:sp>
          <p:nvSpPr>
            <p:cNvPr id="18" name="Text 13"/>
            <p:cNvSpPr/>
            <p:nvPr/>
          </p:nvSpPr>
          <p:spPr>
            <a:xfrm>
              <a:off x="987552" y="292608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372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Tanpa Vendor Lock-In</a:t>
              </a:r>
              <a:endParaRPr lang="en-US" sz="1200" dirty="0"/>
            </a:p>
          </p:txBody>
        </p:sp>
        <p:sp>
          <p:nvSpPr>
            <p:cNvPr id="19" name="Text 14"/>
            <p:cNvSpPr/>
            <p:nvPr/>
          </p:nvSpPr>
          <p:spPr>
            <a:xfrm>
              <a:off x="987552" y="3163824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6B8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Apache 2.0 open-source — bank memiliki penuh source code. Bebas modifikasi, self-hosting &amp; maintenance mandiri.</a:t>
              </a:r>
              <a:endParaRPr lang="en-US" sz="10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985C19B-0E48-439A-BD93-7E803909A985}"/>
              </a:ext>
            </a:extLst>
          </p:cNvPr>
          <p:cNvGrpSpPr/>
          <p:nvPr/>
        </p:nvGrpSpPr>
        <p:grpSpPr>
          <a:xfrm>
            <a:off x="411480" y="4030545"/>
            <a:ext cx="4251960" cy="822960"/>
            <a:chOff x="411480" y="3767328"/>
            <a:chExt cx="4251960" cy="822960"/>
          </a:xfrm>
        </p:grpSpPr>
        <p:sp>
          <p:nvSpPr>
            <p:cNvPr id="20" name="Shape 15"/>
            <p:cNvSpPr/>
            <p:nvPr/>
          </p:nvSpPr>
          <p:spPr>
            <a:xfrm>
              <a:off x="411480" y="3767328"/>
              <a:ext cx="4251960" cy="82296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prstDash val="solid"/>
            </a:ln>
            <a:effectLst>
              <a:outerShdw blurRad="101600" dist="25400" dir="27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1" name="Shape 16"/>
            <p:cNvSpPr/>
            <p:nvPr/>
          </p:nvSpPr>
          <p:spPr>
            <a:xfrm>
              <a:off x="530352" y="3886200"/>
              <a:ext cx="402336" cy="402336"/>
            </a:xfrm>
            <a:prstGeom prst="roundRect">
              <a:avLst>
                <a:gd name="adj" fmla="val 18182"/>
              </a:avLst>
            </a:prstGeom>
            <a:solidFill>
              <a:srgbClr val="FBF5E3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3504" y="3941064"/>
              <a:ext cx="256032" cy="256032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987552" y="3840480"/>
              <a:ext cx="3566160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A372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40+ Corporate Training</a:t>
              </a:r>
              <a:endParaRPr lang="en-US" sz="1200" dirty="0"/>
            </a:p>
          </p:txBody>
        </p:sp>
        <p:sp>
          <p:nvSpPr>
            <p:cNvPr id="24" name="Text 18"/>
            <p:cNvSpPr/>
            <p:nvPr/>
          </p:nvSpPr>
          <p:spPr>
            <a:xfrm>
              <a:off x="987552" y="4078224"/>
              <a:ext cx="35661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000" dirty="0">
                  <a:solidFill>
                    <a:srgbClr val="6B807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Knowledge transfer terstruktur: dokumentasi arsitektur, OpenAPI spec terupdate, technical deep-dive &amp; source code escrow opsional.</a:t>
              </a:r>
              <a:endParaRPr lang="en-US" sz="1000" dirty="0"/>
            </a:p>
          </p:txBody>
        </p:sp>
      </p:grpSp>
      <p:sp>
        <p:nvSpPr>
          <p:cNvPr id="25" name="Shape 19"/>
          <p:cNvSpPr/>
          <p:nvPr/>
        </p:nvSpPr>
        <p:spPr>
          <a:xfrm>
            <a:off x="4754880" y="1024128"/>
            <a:ext cx="3977640" cy="3840480"/>
          </a:xfrm>
          <a:prstGeom prst="roundRect">
            <a:avLst>
              <a:gd name="adj" fmla="val 2381"/>
            </a:avLst>
          </a:prstGeom>
          <a:solidFill>
            <a:srgbClr val="0A372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4919472" y="1115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Klien Tier-1 yang Telah Kami Layani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919472" y="1508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4919472" y="1508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153912" y="1508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6153912" y="1508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BNI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7388352" y="15087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6"/>
          <p:cNvSpPr/>
          <p:nvPr/>
        </p:nvSpPr>
        <p:spPr>
          <a:xfrm>
            <a:off x="7388352" y="15087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Telkom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4919472" y="19659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28"/>
          <p:cNvSpPr/>
          <p:nvPr/>
        </p:nvSpPr>
        <p:spPr>
          <a:xfrm>
            <a:off x="4919472" y="1965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6153912" y="19659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0"/>
          <p:cNvSpPr/>
          <p:nvPr/>
        </p:nvSpPr>
        <p:spPr>
          <a:xfrm>
            <a:off x="6153912" y="1965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Pegadaian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7388352" y="1965960"/>
            <a:ext cx="1143000" cy="329184"/>
          </a:xfrm>
          <a:prstGeom prst="roundRect">
            <a:avLst>
              <a:gd name="adj" fmla="val 16667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32"/>
          <p:cNvSpPr/>
          <p:nvPr/>
        </p:nvSpPr>
        <p:spPr>
          <a:xfrm>
            <a:off x="7388352" y="196596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Kemenkeu RI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4919472" y="2542032"/>
            <a:ext cx="1143000" cy="0"/>
          </a:xfrm>
          <a:prstGeom prst="line">
            <a:avLst/>
          </a:prstGeom>
          <a:noFill/>
          <a:ln w="1905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4"/>
          <p:cNvSpPr/>
          <p:nvPr/>
        </p:nvSpPr>
        <p:spPr>
          <a:xfrm>
            <a:off x="4919472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18+</a:t>
            </a:r>
            <a:endParaRPr lang="en-US" sz="2600" dirty="0"/>
          </a:p>
        </p:txBody>
      </p:sp>
      <p:sp>
        <p:nvSpPr>
          <p:cNvPr id="41" name="Text 35"/>
          <p:cNvSpPr/>
          <p:nvPr/>
        </p:nvSpPr>
        <p:spPr>
          <a:xfrm>
            <a:off x="4919472" y="29718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 Operasional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153912" y="2542032"/>
            <a:ext cx="1143000" cy="0"/>
          </a:xfrm>
          <a:prstGeom prst="line">
            <a:avLst/>
          </a:prstGeom>
          <a:noFill/>
          <a:ln w="1905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37"/>
          <p:cNvSpPr/>
          <p:nvPr/>
        </p:nvSpPr>
        <p:spPr>
          <a:xfrm>
            <a:off x="6153912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2600" dirty="0"/>
          </a:p>
        </p:txBody>
      </p:sp>
      <p:sp>
        <p:nvSpPr>
          <p:cNvPr id="44" name="Text 38"/>
          <p:cNvSpPr/>
          <p:nvPr/>
        </p:nvSpPr>
        <p:spPr>
          <a:xfrm>
            <a:off x="6153912" y="29718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Training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7388352" y="2542032"/>
            <a:ext cx="1143000" cy="0"/>
          </a:xfrm>
          <a:prstGeom prst="line">
            <a:avLst/>
          </a:prstGeom>
          <a:noFill/>
          <a:ln w="19050">
            <a:solidFill>
              <a:srgbClr val="C9A84C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0"/>
          <p:cNvSpPr/>
          <p:nvPr/>
        </p:nvSpPr>
        <p:spPr>
          <a:xfrm>
            <a:off x="7388352" y="2606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60+</a:t>
            </a:r>
            <a:endParaRPr lang="en-US" sz="2600" dirty="0"/>
          </a:p>
        </p:txBody>
      </p:sp>
      <p:sp>
        <p:nvSpPr>
          <p:cNvPr id="47" name="Text 41"/>
          <p:cNvSpPr/>
          <p:nvPr/>
        </p:nvSpPr>
        <p:spPr>
          <a:xfrm>
            <a:off x="7388352" y="297180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4919472" y="3291840"/>
            <a:ext cx="3621024" cy="1417320"/>
          </a:xfrm>
          <a:prstGeom prst="roundRect">
            <a:avLst>
              <a:gd name="adj" fmla="val 5161"/>
            </a:avLst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3"/>
          <p:cNvSpPr/>
          <p:nvPr/>
        </p:nvSpPr>
        <p:spPr>
          <a:xfrm>
            <a:off x="5029200" y="33467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Keahlian Inti: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5029200" y="3566160"/>
            <a:ext cx="3474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8583  ·  SNAP API BI  ·  HSM Integration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BI-FAST  ·  QRIS  ·  Payment Gateway On-Premise</a:t>
            </a:r>
            <a:endParaRPr lang="en-US" sz="11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 ·  Kubernetes  ·  CI/CD GitHub Actions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8070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Spesifikasi API — OpenAPI 3.1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774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500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190+ REST ENDPOINTS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932688"/>
            <a:ext cx="8138160" cy="18288"/>
          </a:xfrm>
          <a:prstGeom prst="rect">
            <a:avLst/>
          </a:prstGeom>
          <a:solidFill>
            <a:srgbClr val="E2C97E">
              <a:alpha val="3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1480" y="1024128"/>
            <a:ext cx="2743200" cy="2907792"/>
          </a:xfrm>
          <a:prstGeom prst="roundRect">
            <a:avLst>
              <a:gd name="adj" fmla="val 2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09728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&amp; SESI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6072" y="1371600"/>
            <a:ext cx="2487168" cy="0"/>
          </a:xfrm>
          <a:prstGeom prst="line">
            <a:avLst/>
          </a:prstGeom>
          <a:noFill/>
          <a:ln w="10160">
            <a:solidFill>
              <a:srgbClr val="C9A84C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576072" y="1499616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1565C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76072" y="149961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124712" y="14447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/api/auth/login — Login, httpOnly cookie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" y="2084832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3A047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76072" y="208483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124712" y="20299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/api/auth/me — Info user saat ini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" y="2670048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1565C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76072" y="26700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4712" y="26151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/api/auth/totp/login — Verifikasi TOTP 6-digit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6072" y="3255264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1565C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76072" y="325526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124712" y="32004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/api/auth/refresh — Rotate refresh token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291840" y="1024128"/>
            <a:ext cx="2743200" cy="2907792"/>
          </a:xfrm>
          <a:prstGeom prst="roundRect">
            <a:avLst>
              <a:gd name="adj" fmla="val 2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09728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49040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NASABAH &amp; DISTRIBUSI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456432" y="1371600"/>
            <a:ext cx="2487168" cy="0"/>
          </a:xfrm>
          <a:prstGeom prst="line">
            <a:avLst/>
          </a:prstGeom>
          <a:noFill/>
          <a:ln w="10160">
            <a:solidFill>
              <a:srgbClr val="C9A84C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1"/>
          <p:cNvSpPr/>
          <p:nvPr/>
        </p:nvSpPr>
        <p:spPr>
          <a:xfrm>
            <a:off x="3456432" y="1499616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3A047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2"/>
          <p:cNvSpPr/>
          <p:nvPr/>
        </p:nvSpPr>
        <p:spPr>
          <a:xfrm>
            <a:off x="3456432" y="149961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4005072" y="14447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/api/nasabah — List filter kol/dpd/akad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3456432" y="2084832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3A047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3456432" y="208483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4005072" y="20299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/api/nasabah/postur — Agregasi Kol 1–5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456432" y="2670048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1565C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28"/>
          <p:cNvSpPr/>
          <p:nvPr/>
        </p:nvSpPr>
        <p:spPr>
          <a:xfrm>
            <a:off x="3456432" y="26700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4005072" y="26151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/api/nasabah/bulk — Import CSV max 2000 baris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3456432" y="3255264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1565C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3456432" y="325526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4005072" y="32004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/api/distribusi/auto-balance — Round-robin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172200" y="1024128"/>
            <a:ext cx="2743200" cy="2907792"/>
          </a:xfrm>
          <a:prstGeom prst="roundRect">
            <a:avLst>
              <a:gd name="adj" fmla="val 266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1097280"/>
            <a:ext cx="237744" cy="2377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629400" y="10789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KUNJUNGAN &amp; ANALYTICS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336792" y="1371600"/>
            <a:ext cx="2487168" cy="0"/>
          </a:xfrm>
          <a:prstGeom prst="line">
            <a:avLst/>
          </a:prstGeom>
          <a:noFill/>
          <a:ln w="10160">
            <a:solidFill>
              <a:srgbClr val="C9A84C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Shape 36"/>
          <p:cNvSpPr/>
          <p:nvPr/>
        </p:nvSpPr>
        <p:spPr>
          <a:xfrm>
            <a:off x="6336792" y="1499616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1565C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37"/>
          <p:cNvSpPr/>
          <p:nvPr/>
        </p:nvSpPr>
        <p:spPr>
          <a:xfrm>
            <a:off x="6336792" y="1499616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43" name="Text 38"/>
          <p:cNvSpPr/>
          <p:nvPr/>
        </p:nvSpPr>
        <p:spPr>
          <a:xfrm>
            <a:off x="6885432" y="1444752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/api/kunjungan — Submit laporan multipart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336792" y="2084832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E65100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40"/>
          <p:cNvSpPr/>
          <p:nvPr/>
        </p:nvSpPr>
        <p:spPr>
          <a:xfrm>
            <a:off x="6336792" y="2084832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6885432" y="2029968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/api/kunjungan/:id/review — Approve/Reject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6336792" y="2670048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3A047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43"/>
          <p:cNvSpPr/>
          <p:nvPr/>
        </p:nvSpPr>
        <p:spPr>
          <a:xfrm>
            <a:off x="6336792" y="2670048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49" name="Text 44"/>
          <p:cNvSpPr/>
          <p:nvPr/>
        </p:nvSpPr>
        <p:spPr>
          <a:xfrm>
            <a:off x="6885432" y="2615184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/api/kunjungan/:id/pdf — Generate PDF bukti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6336792" y="3255264"/>
            <a:ext cx="493776" cy="182880"/>
          </a:xfrm>
          <a:prstGeom prst="roundRect">
            <a:avLst>
              <a:gd name="adj" fmla="val 20000"/>
            </a:avLst>
          </a:prstGeom>
          <a:solidFill>
            <a:srgbClr val="43A047">
              <a:alpha val="2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6"/>
          <p:cNvSpPr/>
          <p:nvPr/>
        </p:nvSpPr>
        <p:spPr>
          <a:xfrm>
            <a:off x="6336792" y="3255264"/>
            <a:ext cx="493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6885432" y="3200400"/>
            <a:ext cx="19568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/api/analytics/overview — Revenue 6 bln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411480" y="4041648"/>
            <a:ext cx="201168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4" name="Text 49"/>
          <p:cNvSpPr/>
          <p:nvPr/>
        </p:nvSpPr>
        <p:spPr>
          <a:xfrm>
            <a:off x="548640" y="4114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548640" y="4315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10/15m per-IP  ·  /api/* 600/15m  ·  POST /kunjungan per-user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2569464" y="4041648"/>
            <a:ext cx="201168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7" name="Text 52"/>
          <p:cNvSpPr/>
          <p:nvPr/>
        </p:nvSpPr>
        <p:spPr>
          <a:xfrm>
            <a:off x="2706624" y="4114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Header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2706624" y="4315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JWT (15m)  ·  Refresh via httpOnly Cookie (7 hari)  ·  x-branch-id override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4727448" y="4041648"/>
            <a:ext cx="201168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5"/>
          <p:cNvSpPr/>
          <p:nvPr/>
        </p:nvSpPr>
        <p:spPr>
          <a:xfrm>
            <a:off x="4864608" y="4114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4864608" y="4315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Cursor-based: ?cursor=&amp;limit=  →  { data:[], nextCursor }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6885432" y="4041648"/>
            <a:ext cx="2011680" cy="768096"/>
          </a:xfrm>
          <a:prstGeom prst="roundRect">
            <a:avLst>
              <a:gd name="adj" fmla="val 952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3" name="Text 58"/>
          <p:cNvSpPr/>
          <p:nvPr/>
        </p:nvSpPr>
        <p:spPr>
          <a:xfrm>
            <a:off x="7022592" y="41148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C9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900" dirty="0"/>
          </a:p>
        </p:txBody>
      </p:sp>
      <p:sp>
        <p:nvSpPr>
          <p:cNvPr id="64" name="Text 59"/>
          <p:cNvSpPr/>
          <p:nvPr/>
        </p:nvSpPr>
        <p:spPr>
          <a:xfrm>
            <a:off x="7022592" y="43159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/api/docs (Swagger UI)  ·  /api/openapi.json (OpenAPI 3.1)  ·  /metrics (Prometheus)</a:t>
            </a:r>
            <a:endParaRPr lang="en-US" sz="900" dirty="0"/>
          </a:p>
        </p:txBody>
      </p:sp>
      <p:sp>
        <p:nvSpPr>
          <p:cNvPr id="65" name="Text 60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3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4166" y="1554480"/>
            <a:ext cx="0" cy="201168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314166" y="3566160"/>
            <a:ext cx="0" cy="100584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0" y="4572000"/>
            <a:ext cx="0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829834" y="3566160"/>
            <a:ext cx="0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829834" y="1554480"/>
            <a:ext cx="1742166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572000" y="548640"/>
            <a:ext cx="1742166" cy="100584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918219" y="1783080"/>
            <a:ext cx="0" cy="155448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918219" y="3337560"/>
            <a:ext cx="0" cy="77724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0" y="4114800"/>
            <a:ext cx="0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25781" y="3337560"/>
            <a:ext cx="0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225781" y="1783080"/>
            <a:ext cx="1346219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1346219" cy="77724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522272" y="2011680"/>
            <a:ext cx="0" cy="109728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522272" y="3108960"/>
            <a:ext cx="0" cy="54864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0" y="3657600"/>
            <a:ext cx="0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21728" y="3108960"/>
            <a:ext cx="0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621728" y="2011680"/>
            <a:ext cx="950272" cy="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0" y="1463040"/>
            <a:ext cx="950272" cy="548640"/>
          </a:xfrm>
          <a:prstGeom prst="line">
            <a:avLst/>
          </a:prstGeom>
          <a:noFill/>
          <a:ln w="10160">
            <a:solidFill>
              <a:srgbClr val="FFFFFF">
                <a:alpha val="6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17136" y="2505456"/>
            <a:ext cx="109728" cy="10972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6583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ArtiVisi Intermedia  ·  Bank Syariah Nasional  · 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14400" y="91440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Jazakumullah
</a:t>
            </a:r>
            <a:r>
              <a:rPr lang="en-US" sz="5200" b="1" dirty="0">
                <a:solidFill>
                  <a:srgbClr val="E2C9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Khairan Khasiran</a:t>
            </a:r>
            <a:endParaRPr lang="en-US" sz="5200" dirty="0"/>
          </a:p>
        </p:txBody>
      </p:sp>
      <p:sp>
        <p:nvSpPr>
          <p:cNvPr id="23" name="Shape 21"/>
          <p:cNvSpPr/>
          <p:nvPr/>
        </p:nvSpPr>
        <p:spPr>
          <a:xfrm>
            <a:off x="4023360" y="2971800"/>
            <a:ext cx="10972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3090672"/>
            <a:ext cx="7315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Bersama Mewujudkan Perbankan Syariah yang</a:t>
            </a:r>
            <a:endParaRPr lang="en-US" sz="17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7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Akuntabel, dan Terpercaya.</a:t>
            </a:r>
            <a:endParaRPr lang="en-US" sz="1700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47D58C0-F46D-4602-A103-9767C12EF678}"/>
              </a:ext>
            </a:extLst>
          </p:cNvPr>
          <p:cNvGrpSpPr/>
          <p:nvPr/>
        </p:nvGrpSpPr>
        <p:grpSpPr>
          <a:xfrm>
            <a:off x="877824" y="4426349"/>
            <a:ext cx="8485632" cy="237744"/>
            <a:chOff x="822960" y="3931920"/>
            <a:chExt cx="8485632" cy="237744"/>
          </a:xfrm>
        </p:grpSpPr>
        <p:pic>
          <p:nvPicPr>
            <p:cNvPr id="25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960" y="3950208"/>
              <a:ext cx="201168" cy="201168"/>
            </a:xfrm>
            <a:prstGeom prst="rect">
              <a:avLst/>
            </a:prstGeom>
          </p:spPr>
        </p:pic>
        <p:sp>
          <p:nvSpPr>
            <p:cNvPr id="26" name="Text 23"/>
            <p:cNvSpPr/>
            <p:nvPr/>
          </p:nvSpPr>
          <p:spPr>
            <a:xfrm>
              <a:off x="1069848" y="3931920"/>
              <a:ext cx="179222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www.artivisi.com</a:t>
              </a:r>
              <a:endParaRPr lang="en-US" sz="1100" dirty="0"/>
            </a:p>
          </p:txBody>
        </p:sp>
        <p:pic>
          <p:nvPicPr>
            <p:cNvPr id="2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71800" y="3950208"/>
              <a:ext cx="201168" cy="201168"/>
            </a:xfrm>
            <a:prstGeom prst="rect">
              <a:avLst/>
            </a:prstGeom>
          </p:spPr>
        </p:pic>
        <p:sp>
          <p:nvSpPr>
            <p:cNvPr id="28" name="Text 24"/>
            <p:cNvSpPr/>
            <p:nvPr/>
          </p:nvSpPr>
          <p:spPr>
            <a:xfrm>
              <a:off x="3218688" y="3931920"/>
              <a:ext cx="179222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Bogor, Jawa Barat</a:t>
              </a:r>
              <a:endParaRPr lang="en-US" sz="1100" dirty="0"/>
            </a:p>
          </p:txBody>
        </p:sp>
        <p:pic>
          <p:nvPicPr>
            <p:cNvPr id="29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20640" y="3950208"/>
              <a:ext cx="201168" cy="201168"/>
            </a:xfrm>
            <a:prstGeom prst="rect">
              <a:avLst/>
            </a:prstGeom>
          </p:spPr>
        </p:pic>
        <p:sp>
          <p:nvSpPr>
            <p:cNvPr id="30" name="Text 25"/>
            <p:cNvSpPr/>
            <p:nvPr/>
          </p:nvSpPr>
          <p:spPr>
            <a:xfrm>
              <a:off x="5367528" y="3931920"/>
              <a:ext cx="179222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info@artivisi.com</a:t>
              </a:r>
              <a:endParaRPr lang="en-US" sz="1100" dirty="0"/>
            </a:p>
          </p:txBody>
        </p:sp>
        <p:pic>
          <p:nvPicPr>
            <p:cNvPr id="31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69480" y="3950208"/>
              <a:ext cx="201168" cy="201168"/>
            </a:xfrm>
            <a:prstGeom prst="rect">
              <a:avLst/>
            </a:prstGeom>
          </p:spPr>
        </p:pic>
        <p:sp>
          <p:nvSpPr>
            <p:cNvPr id="32" name="Text 26"/>
            <p:cNvSpPr/>
            <p:nvPr/>
          </p:nvSpPr>
          <p:spPr>
            <a:xfrm>
              <a:off x="7516368" y="3931920"/>
              <a:ext cx="1792224" cy="2377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AAAAA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AVI/PROP/BSN/2026/002</a:t>
              </a:r>
              <a:endParaRPr lang="en-US" sz="1100" dirty="0"/>
            </a:p>
          </p:txBody>
        </p:sp>
      </p:grpSp>
      <p:sp>
        <p:nvSpPr>
          <p:cNvPr id="33" name="Text 27"/>
          <p:cNvSpPr/>
          <p:nvPr/>
        </p:nvSpPr>
        <p:spPr>
          <a:xfrm>
            <a:off x="914400" y="486460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Rahasia &amp; Terbatas — Diajukan khusus kepada Bank Syariah Nasional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8046720" y="491947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2351</Words>
  <Application>Microsoft Office PowerPoint</Application>
  <PresentationFormat>On-screen Show (16:9)</PresentationFormat>
  <Paragraphs>346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BSN Lacak — PT ArtiVisi Intermedia</dc:title>
  <dc:subject>PptxGenJS Presentation</dc:subject>
  <dc:creator>PT ArtiVisi Intermedia</dc:creator>
  <cp:lastModifiedBy>user</cp:lastModifiedBy>
  <cp:revision>9</cp:revision>
  <cp:lastPrinted>2026-06-28T11:13:37Z</cp:lastPrinted>
  <dcterms:created xsi:type="dcterms:W3CDTF">2026-06-25T08:48:41Z</dcterms:created>
  <dcterms:modified xsi:type="dcterms:W3CDTF">2026-06-28T11:13:58Z</dcterms:modified>
</cp:coreProperties>
</file>